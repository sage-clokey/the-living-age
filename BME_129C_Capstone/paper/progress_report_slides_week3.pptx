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2B788"/>
                </a:solidFill>
                <a:latin typeface="Calibri"/>
              </a:defRPr>
            </a:pPr>
            <a:r>
              <a:t>Living Systems as Decentralized Economies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9C46A"/>
                </a:solidFill>
                <a:latin typeface="Calibri"/>
              </a:defRPr>
            </a:pPr>
            <a:r>
              <a:t>Why the Molecular Biologist Should Be an Entrepreneur, Not a Central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BME 129C Capstone  |  Week 3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5D5B2"/>
                </a:solidFill>
                <a:latin typeface="Calibri"/>
              </a:defRPr>
            </a:pPr>
            <a:r>
              <a:t>Sage Clokey   |   Spring 2026   |   UC Santa Cruz</a:t>
            </a:r>
          </a:p>
        </p:txBody>
      </p:sp>
      <p:pic>
        <p:nvPicPr>
          <p:cNvPr id="7" name="Picture 6" descr="slide_thre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389120"/>
            <a:ext cx="5029200" cy="2817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Goal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Question: Are living systems literally decentralized economies?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Not metaphor — measurable structural equivalence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Thesis: biological networks exhibit the same properties Austrian economists attribute to free markets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Scale-free topology, distributed information flow, robustness to failure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Three layers of convergent evidence from real data: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Layer 1: Network topology — no master node (RegulonDB, STRING, KEGG)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Layer 1b: Single-cell economy — cells as specialized agents (10x Genomics pbmc3k)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Layer 2: Economic simulation — distributed vs. centralized allocation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Layer 3: Cross-species trade — comparative advantage via codon distance</a:t>
            </a:r>
          </a:p>
        </p:txBody>
      </p:sp>
      <p:pic>
        <p:nvPicPr>
          <p:cNvPr id="5" name="Picture 4" descr="slide_thre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317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Accomplished So Far — All Layers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B788"/>
                </a:solidFill>
                <a:latin typeface="Calibri"/>
              </a:defRPr>
            </a:pPr>
            <a:r>
              <a:t>Data &amp;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Calibri"/>
              </a:defRPr>
            </a:pPr>
            <a:r>
              <a:t>Layer 1: Gene regulatory, metabolic, and PPI networks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E. coli PPI: 529 nodes, 6,951 edges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Yeast PPI: 573 nodes, 6,342 edges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RegulonDB GRN: 282 nodes, 308 edges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Power-law exponents: α = 2.05–2.44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Calibri"/>
              </a:defRPr>
            </a:pPr>
            <a:r>
              <a:t>Layer 1b: Single-cell economy (PBMC 3k)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8 cell types, no master cell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Communication Gini = 0.0 (fully distributed)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75% communication survival after any cell type removal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B788"/>
                </a:solidFill>
                <a:latin typeface="Calibri"/>
              </a:defRPr>
            </a:pPr>
            <a:r>
              <a:t>Simulation &amp; Trade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Calibri"/>
              </a:defRPr>
            </a:pPr>
            <a:r>
              <a:t>Layer 2: Economic simulation (13 pathway agents)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Distributed: 2.9× lower variance than centralized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71.1% GDP retained under perturbation (vs 53.0%)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Local feedback alone reaches stable equilibrium</a:t>
            </a:r>
          </a:p>
          <a:p>
            <a:pPr>
              <a:spcAft>
                <a:spcPts val="800"/>
              </a:spcAft>
              <a:defRPr sz="1300">
                <a:solidFill>
                  <a:srgbClr val="F5F5F5"/>
                </a:solidFill>
                <a:latin typeface="Calibri"/>
              </a:defRPr>
            </a:pPr>
            <a:r>
              <a:t>Layer 3: Cross-species trade (8 organisms, 4 kingdoms)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Within-kingdom cost: 0.17–0.38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Cross-kingdom cost: 0.65–0.83</a:t>
            </a:r>
          </a:p>
          <a:p>
            <a:pPr lvl="1">
              <a:spcAft>
                <a:spcPts val="400"/>
              </a:spcAft>
              <a:defRPr sz="1100">
                <a:solidFill>
                  <a:srgbClr val="8B949E"/>
                </a:solidFill>
                <a:latin typeface="Calibri"/>
              </a:defRPr>
            </a:pPr>
            <a:r>
              <a:t>Each organism contributes unique comparative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2B788"/>
                </a:solidFill>
                <a:latin typeface="Calibri"/>
              </a:defRPr>
            </a:pPr>
            <a:r>
              <a:t>Paper draft complete (Abstract → Results)  |  Figure guide with falsifiable predictions  |  Reproducible pipeline (run_all.py)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Calibri"/>
              </a:defRPr>
            </a:pPr>
            <a:r>
              <a:t>Layer 1: Biological Networks Are Decentralized</a:t>
            </a:r>
          </a:p>
        </p:txBody>
      </p:sp>
      <p:pic>
        <p:nvPicPr>
          <p:cNvPr id="4" name="Picture 3" descr="figure2_network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(A) Power-law degree distributions (α = 2.05–2.44) — many nodes with few connections, few hubs, no single controller. (B) Betweenness Gini: hubs exist but are distributed — no single bottleneck. (C) Robustness: PPI networks survive ~37% targeted hub removal; star/hub-spoke collapse at ~2%. A 19:1 robustness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Calibri"/>
              </a:defRPr>
            </a:pPr>
            <a:r>
              <a:t>Layer 1b + Layer 2: Cells as Agents, Pathways as Markets</a:t>
            </a:r>
          </a:p>
        </p:txBody>
      </p:sp>
      <p:pic>
        <p:nvPicPr>
          <p:cNvPr id="4" name="Picture 3" descr="layer1b_single_cell_ec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4114800"/>
          </a:xfrm>
          <a:prstGeom prst="rect">
            <a:avLst/>
          </a:prstGeom>
        </p:spPr>
      </p:pic>
      <p:pic>
        <p:nvPicPr>
          <p:cNvPr id="5" name="Picture 4" descr="layer2_ec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21208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Left: 2,638 cells, same genome, 8 specialized types.</a:t>
            </a:r>
            <a:br/>
            <a:r>
              <a:t>No master cell. Communication Gini = 0.0.</a:t>
            </a:r>
            <a:br/>
            <a:r>
              <a:t>The immune system is a decentralized economy.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21208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Right: Distributed allocation (green) vs. centralized (red).</a:t>
            </a:r>
            <a:br/>
            <a:r>
              <a:t>Distributed reaches equilibrium through local feedback alone.</a:t>
            </a:r>
            <a:br/>
            <a:r>
              <a:t>Retains 71% GDP under perturbation vs. 53% for the planner.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Calibri"/>
              </a:defRPr>
            </a:pPr>
            <a:r>
              <a:t>Layer 3: The Tree of Life Is a Trade Network</a:t>
            </a:r>
          </a:p>
        </p:txBody>
      </p:sp>
      <p:pic>
        <p:nvPicPr>
          <p:cNvPr id="4" name="Picture 3" descr="layer3_trad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8 organisms across 4 kingdoms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Codon usage distance = trade friction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Within-kingdom: 0.17–0.38 (free trade zone)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Cross-kingdom: 0.65–0.83 (trade embargo)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Each organism has unique comparative advantage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Coral → biomineralization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Spider → silk proteins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Axolotl → regeneration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Bacteria → cellulose synthesis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The tree of life forms natural trade blocs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Like economic free trade zones structured by evolutionary distance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This Week's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Faculty advisors secured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Todd Lowe (RNA biology, genomics) — co-advisor, meeting Wed 4:30pm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Josh Stuart (computational genomics) — connected through Dubois, meeting this week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Capstone figures presentation updated (v2)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Refined visualizations for advisor meetings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Methods section drafted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Arial 11, single-spaced, database table with accession numbers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Data Availability section: GitHub + future Dryad deposit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Paper argument sharpened through faculty exchanges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Bernick: 'programming is Plato's shadow puppets' — connects to machine metaphor critique</a:t>
            </a:r>
          </a:p>
          <a:p>
            <a:pPr lvl="1"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Etymology of 'program' (pre-written) as evidence the field's language misrepresents living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C46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Validate Layer 2 with real flux data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Integrate COBRApy flux balance analysis from BiGG E. coli model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Replace simplified parameterization with genome-scale metabolic data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Meet with advisors Lowe and Stuart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Present figures and paper draft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Get feedback on methodology and framing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Complete Discussion section of paper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Disease as broken decentralization (cancer, drug resistance)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Practical implications: design distributed feedback, not command hierarchies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Statistical validation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Kolmogorov-Smirnov test for power-law fit</a:t>
            </a:r>
          </a:p>
          <a:p>
            <a:pPr lvl="1"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Spearman correlation: codon distance vs. trade cost (gravity model)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4572000" cy="4114800"/>
          </a:xfrm>
          <a:prstGeom prst="roundRect">
            <a:avLst/>
          </a:prstGeom>
          <a:solidFill>
            <a:srgbClr val="1B4332"/>
          </a:solidFill>
          <a:ln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9C46A"/>
                </a:solidFill>
                <a:latin typeface="Calibri"/>
              </a:defRPr>
            </a:pPr>
            <a:r>
              <a:t>The Thesis in One Sentence</a:t>
            </a:r>
          </a:p>
          <a:p>
            <a:br/>
            <a:pPr algn="ctr">
              <a:defRPr sz="1400">
                <a:solidFill>
                  <a:srgbClr val="95D5B2"/>
                </a:solidFill>
                <a:latin typeface="Calibri"/>
              </a:defRPr>
            </a:pPr>
            <a:r>
              <a:t>Life organizes as a decentralized economy — not a machine with a master switch, but a network of cooperating agents coordinating through local signals.</a:t>
            </a:r>
            <a:br/>
            <a:br/>
            <a:r>
              <a:t>The data shows it at every scale:</a:t>
            </a:r>
            <a:br/>
            <a:r>
              <a:t>genes, cells, pathways, species.</a:t>
            </a:r>
            <a:br/>
            <a:br/>
            <a:r>
              <a:t>The molecular biologist should be</a:t>
            </a:r>
            <a:br/>
            <a:r>
              <a:t>an entrepreneur, not a central planner.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
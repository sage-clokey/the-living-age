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2B788"/>
                </a:solidFill>
                <a:latin typeface="Calibri"/>
              </a:defRPr>
            </a:pPr>
            <a:r>
              <a:t>Living Systems as Decentralized Economies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9C46A"/>
                </a:solidFill>
                <a:latin typeface="Calibri"/>
              </a:defRPr>
            </a:pPr>
            <a:r>
              <a:t>Why the Molecular Biologist Should Be an Entrepreneur, Not a Central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BME 129C Capstone  | 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5D5B2"/>
                </a:solidFill>
                <a:latin typeface="Calibri"/>
              </a:defRPr>
            </a:pPr>
            <a:r>
              <a:t>Sage Clokey   |   Spring 2026   |   UC Santa Cruz</a:t>
            </a:r>
          </a:p>
        </p:txBody>
      </p:sp>
      <p:pic>
        <p:nvPicPr>
          <p:cNvPr id="7" name="Picture 6" descr="slide_thre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389120"/>
            <a:ext cx="5029200" cy="2817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Goal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Are living systems literally decentralized economies?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Not metaphor -- measurable structural equivalence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Thesis: biological networks exhibit the same properties Austrian economists attribute to free markets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Scale-free topology, distributed information flow, robustness to failure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Three layers of convergent evidence from real data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1: Network topology (STRING DB, RegulonDB, KEGG)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2: Economic simulation (pathways as agents vs. central allocator)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3: Cross-species trade (comparative advantage via codon distance)</a:t>
            </a:r>
          </a:p>
        </p:txBody>
      </p:sp>
      <p:pic>
        <p:nvPicPr>
          <p:cNvPr id="5" name="Picture 4" descr="slide_thre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317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What Does Network Architecture Look Like?</a:t>
            </a:r>
          </a:p>
        </p:txBody>
      </p:sp>
      <p:pic>
        <p:nvPicPr>
          <p:cNvPr id="4" name="Picture 3" descr="slide_netwo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152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3946"/>
                </a:solidFill>
                <a:latin typeface="Calibri"/>
              </a:defRPr>
            </a:pPr>
            <a:r>
              <a:t>One hub controls everything.</a:t>
            </a:r>
            <a:br/>
            <a:r>
              <a:t>Remove it = total collapse.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B788"/>
                </a:solidFill>
                <a:latin typeface="Calibri"/>
              </a:defRPr>
            </a:pPr>
            <a:r>
              <a:t>Multiple hubs, high clustering.</a:t>
            </a:r>
            <a:br/>
            <a:r>
              <a:t>Robust to failure -- like a real economy.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No structure, no hubs.</a:t>
            </a:r>
            <a:br/>
            <a:r>
              <a:t>Resilient but inefficient -- no specialization.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Accomplished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B788"/>
                </a:solidFill>
                <a:latin typeface="Calibri"/>
              </a:defRPr>
            </a:pPr>
            <a:r>
              <a:t>Data Pipeline (Complete)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STRING PPI: E. coli (529 proteins, 6,951 interactions)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STRING PPI: Yeast (573 proteins, 6,342 interactions)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RegulonDB GRN: 282 nodes, 308 regulatory edges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KEGG metabolic networks: E. coli + yeast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Single-cell RNA-seq: PBMC 3k (scanpy)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All data cached locally for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B788"/>
                </a:solidFill>
                <a:latin typeface="Calibri"/>
              </a:defRPr>
            </a:pPr>
            <a:r>
              <a:t>Analysis Framework (Complete)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Topology: degree distribution, power-law fitting, Gini coefficient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Robustness curves: random failure vs. targeted attack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5 centralized reference networks for comparison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Economic simulation: distributed vs. centralized allocation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Cross-species trade cost matrix (codon distance)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Automated figure generation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Figure 2: Biological Networks Are Decentralized</a:t>
            </a:r>
          </a:p>
        </p:txBody>
      </p:sp>
      <p:pic>
        <p:nvPicPr>
          <p:cNvPr id="4" name="Picture 3" descr="figure2_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Figure 2. Topological analysis of E. coli and yeast PPI networks (STRING DB) and E. coli GRN (RegulonDB) compared to centralized references. (A) Power-law degree distributions (alpha = 2.05-2.44). (B) Betweenness Gini shows hubs exist but are distributed across multiple nodes. (C) PPI networks survive removing ~37% of top hubs; star/hub-spoke collapse at ~2%.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9C46A"/>
                </a:solidFill>
                <a:latin typeface="Calibri"/>
              </a:defRPr>
            </a:pPr>
            <a:r>
              <a:t>The Key Insight: Hubs Exist, But the System Doesn't Depend on Them</a:t>
            </a:r>
          </a:p>
        </p:txBody>
      </p:sp>
      <p:pic>
        <p:nvPicPr>
          <p:cNvPr id="4" name="Picture 3" descr="slide_robustness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B788"/>
                </a:solidFill>
                <a:latin typeface="Calibri"/>
              </a:defRPr>
            </a:pPr>
            <a:r>
              <a:t>Robustness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Calibri"/>
              </a:defRPr>
            </a:pPr>
            <a:r>
              <a:t>Nodes removed before collapse:</a:t>
            </a:r>
            <a:br/>
            <a:br/>
            <a:r>
              <a:t>E. coli PPI (targeted):     37%</a:t>
            </a:r>
            <a:br/>
            <a:r>
              <a:t>Yeast PPI (targeted):       37%</a:t>
            </a:r>
            <a:br/>
            <a:r>
              <a:t>Star graph (targeted):        2%</a:t>
            </a:r>
            <a:br/>
            <a:r>
              <a:t>Hub-and-spoke (targeted):  2%</a:t>
            </a:r>
            <a:br/>
            <a:br/>
            <a:r>
              <a:t>Biological networks have</a:t>
            </a:r>
            <a:br/>
            <a:r>
              <a:t>multiple redundant paths.</a:t>
            </a:r>
            <a:br/>
            <a:br/>
            <a:r>
              <a:t>Centralized architectures</a:t>
            </a:r>
            <a:br/>
            <a:r>
              <a:t>have a single point of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303520"/>
            <a:ext cx="3931920" cy="914400"/>
          </a:xfrm>
          <a:prstGeom prst="roundRect">
            <a:avLst/>
          </a:prstGeom>
          <a:solidFill>
            <a:srgbClr val="1B4332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5D5B2"/>
                </a:solidFill>
                <a:latin typeface="Calibri"/>
              </a:defRPr>
            </a:pPr>
            <a:r>
              <a:t>Life is not a machine with a master switch.</a:t>
            </a:r>
            <a:br/>
            <a:r>
              <a:t>It's an economy of cooperating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Summary of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C46A"/>
                          </a:solidFill>
                          <a:latin typeface="Calibri"/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C46A"/>
                          </a:solidFill>
                          <a:latin typeface="Calibri"/>
                        </a:defRPr>
                      </a:pPr>
                      <a:r>
                        <a:t>Nodes / Edges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C46A"/>
                          </a:solidFill>
                          <a:latin typeface="Calibri"/>
                        </a:defRPr>
                      </a:pPr>
                      <a:r>
                        <a:t>Power-law alpha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C46A"/>
                          </a:solidFill>
                          <a:latin typeface="Calibri"/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C46A"/>
                          </a:solidFill>
                          <a:latin typeface="Calibri"/>
                        </a:defRPr>
                      </a:pPr>
                      <a:r>
                        <a:t>Robustness (targeted)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E. coli PPI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529 / 6,951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2.05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0.645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Yeast PPI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573 / 6,342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2.44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0.651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E. coli GRN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282 / 308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5D5B2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Star (centralized)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529 / 528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Hub-and-spoke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529 / 564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1.25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63946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2B788"/>
                </a:solidFill>
                <a:latin typeface="Calibri"/>
              </a:defRPr>
            </a:pPr>
            <a:r>
              <a:t>Biological networks: scale-free degree distributions (alpha 2-3), high clustering (local cooperation), and 18x more robust than centralized architectures under targeted attack.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Layer 2: Distributed vs. centralized metabolic simulation</a:t>
            </a:r>
          </a:p>
          <a:p>
            <a:pPr lvl="1">
              <a:spcAft>
                <a:spcPts val="4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Does the 'market' outperform the 'planner' under perturbation?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Motif analysis: classify network motifs</a:t>
            </a:r>
          </a:p>
          <a:p>
            <a:pPr lvl="1">
              <a:spcAft>
                <a:spcPts val="4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Entrepreneurial = local feedback loops, adaptive</a:t>
            </a:r>
          </a:p>
          <a:p>
            <a:pPr lvl="1">
              <a:spcAft>
                <a:spcPts val="4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Central planning = hub-dependent cascades, brittle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Layer 3: Cross-species trade network</a:t>
            </a:r>
          </a:p>
          <a:p>
            <a:pPr lvl="1">
              <a:spcAft>
                <a:spcPts val="4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Does codon distance predict gene transfer cost?</a:t>
            </a:r>
          </a:p>
          <a:p>
            <a:pPr lvl="1">
              <a:spcAft>
                <a:spcPts val="4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Like the gravity model predicts international trade?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Paper: Results and discussion for all three layers</a:t>
            </a:r>
          </a:p>
        </p:txBody>
      </p:sp>
      <p:pic>
        <p:nvPicPr>
          <p:cNvPr id="5" name="Picture 4" descr="layer2_ec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Preview: Layer 2 economic simulation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